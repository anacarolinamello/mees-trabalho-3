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  <p:embeddedFont>
      <p:font typeface="Maven Pro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unito-bold.fntdata"/><Relationship Id="rId10" Type="http://schemas.openxmlformats.org/officeDocument/2006/relationships/slide" Target="slides/slide5.xml"/><Relationship Id="rId32" Type="http://schemas.openxmlformats.org/officeDocument/2006/relationships/font" Target="fonts/Nunito-regular.fntdata"/><Relationship Id="rId13" Type="http://schemas.openxmlformats.org/officeDocument/2006/relationships/slide" Target="slides/slide8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7.xml"/><Relationship Id="rId34" Type="http://schemas.openxmlformats.org/officeDocument/2006/relationships/font" Target="fonts/Nunito-italic.fntdata"/><Relationship Id="rId15" Type="http://schemas.openxmlformats.org/officeDocument/2006/relationships/slide" Target="slides/slide10.xml"/><Relationship Id="rId37" Type="http://schemas.openxmlformats.org/officeDocument/2006/relationships/font" Target="fonts/MavenPro-bold.fntdata"/><Relationship Id="rId14" Type="http://schemas.openxmlformats.org/officeDocument/2006/relationships/slide" Target="slides/slide9.xml"/><Relationship Id="rId36" Type="http://schemas.openxmlformats.org/officeDocument/2006/relationships/font" Target="fonts/MavenPr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4b966d08b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4b966d08b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d6b89fa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8d6b89fa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455aaacc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455aaacc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d6b89fa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8d6b89fa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d6b89fac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8d6b89fa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700e38d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7700e38d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455aaaccc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455aaacc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d6b89fac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8d6b89fac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455aaaccc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455aaaccc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55aaaccc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455aaaccc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455aaaccc0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455aaaccc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55aaaccc0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455aaaccc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55aaaccc0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455aaaccc0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455aaaccc0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455aaaccc0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8d6b89fac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8d6b89fac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8d6b89fac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8d6b89fac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55aaacc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455aaacc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ff7a4806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7ff7a4806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7ff7a4806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7ff7a4806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ff7a4806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7ff7a4806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7ff7a4806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7ff7a4806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8d6b89fac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8d6b89fac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8d6b89fac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8d6b89fac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8d6b89fac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8d6b89fac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8d6b89fac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8d6b89fac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Caracterizando a Atividade de Code Review no GitHub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</a:t>
            </a:r>
            <a:endParaRPr/>
          </a:p>
        </p:txBody>
      </p:sp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000"/>
              <a:t>O  presente sistema coleta dados de repositórios GitHub e analisa os code reviews, assim como os dados das </a:t>
            </a:r>
            <a:r>
              <a:rPr lang="pt-BR" sz="2000"/>
              <a:t>merges presentes</a:t>
            </a:r>
            <a:r>
              <a:rPr lang="pt-BR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Hipóteses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RQ01: </a:t>
            </a:r>
            <a:r>
              <a:rPr lang="pt-BR" sz="1900">
                <a:solidFill>
                  <a:srgbClr val="000000"/>
                </a:solidFill>
              </a:rPr>
              <a:t>Qual a relação entre o tamanho dos PRs e o feedback final das revisões?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menores tenham maior chance de serem merged, pois são mais fáceis de revisar.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RQ02: </a:t>
            </a:r>
            <a:r>
              <a:rPr lang="pt-BR" sz="1900">
                <a:solidFill>
                  <a:srgbClr val="000000"/>
                </a:solidFill>
              </a:rPr>
              <a:t>Qual a relação entre o tempo de análise dos PRs e o feedback final das revisões?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com tempo de análise menor tenham maior chance de serem merged.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Hip</a:t>
            </a:r>
            <a:r>
              <a:rPr lang="pt-BR"/>
              <a:t>óteses</a:t>
            </a:r>
            <a:endParaRPr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RQ03: </a:t>
            </a:r>
            <a:r>
              <a:rPr lang="pt-BR" sz="1900">
                <a:solidFill>
                  <a:srgbClr val="000000"/>
                </a:solidFill>
              </a:rPr>
              <a:t>Qual a relação entre a descrição dos PRs e o feedback final das revisões?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com descrições mais detalhadas tenham maior chance de serem merged.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RQ04: </a:t>
            </a:r>
            <a:r>
              <a:rPr lang="pt-BR" sz="1900">
                <a:solidFill>
                  <a:srgbClr val="000000"/>
                </a:solidFill>
              </a:rPr>
              <a:t>Qual a relação entre as interações nos PRs e o feedback final das revisões?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com mais interações tenham maior chance de serem merged.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Hipóteses</a:t>
            </a:r>
            <a:endParaRPr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RQ05: </a:t>
            </a:r>
            <a:r>
              <a:rPr lang="pt-BR" sz="1900">
                <a:solidFill>
                  <a:srgbClr val="000000"/>
                </a:solidFill>
              </a:rPr>
              <a:t>Qual a relação entre o tamanho dos PRs e o número de revisões realizadas?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maiores </a:t>
            </a:r>
            <a:r>
              <a:rPr lang="pt-BR" sz="1900">
                <a:solidFill>
                  <a:srgbClr val="000000"/>
                </a:solidFill>
              </a:rPr>
              <a:t>requerem</a:t>
            </a:r>
            <a:r>
              <a:rPr lang="pt-BR" sz="1900">
                <a:solidFill>
                  <a:srgbClr val="000000"/>
                </a:solidFill>
              </a:rPr>
              <a:t> mais revisões.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RQ06: </a:t>
            </a:r>
            <a:r>
              <a:rPr lang="pt-BR" sz="1900">
                <a:solidFill>
                  <a:srgbClr val="000000"/>
                </a:solidFill>
              </a:rPr>
              <a:t>Qual a relação entre o tempo de análise dos PRs e o número de revisões realizadas?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com mais tempo de análise tenham mais revisões.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1303800" y="550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Hipóteses</a:t>
            </a:r>
            <a:endParaRPr/>
          </a:p>
        </p:txBody>
      </p:sp>
      <p:sp>
        <p:nvSpPr>
          <p:cNvPr id="307" name="Google Shape;307;p18"/>
          <p:cNvSpPr txBox="1"/>
          <p:nvPr>
            <p:ph idx="1" type="body"/>
          </p:nvPr>
        </p:nvSpPr>
        <p:spPr>
          <a:xfrm>
            <a:off x="860250" y="1550250"/>
            <a:ext cx="7423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RQ07: </a:t>
            </a:r>
            <a:r>
              <a:rPr lang="pt-BR" sz="1900">
                <a:solidFill>
                  <a:srgbClr val="000000"/>
                </a:solidFill>
              </a:rPr>
              <a:t>Qual a relação entre a descrição dos PRs e o número de revisões realizadas?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com descrições mais detalhadas tenham menos revisões.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b="1" lang="pt-BR" sz="1900">
                <a:solidFill>
                  <a:srgbClr val="000000"/>
                </a:solidFill>
              </a:rPr>
              <a:t>RQ08: </a:t>
            </a:r>
            <a:r>
              <a:rPr lang="pt-BR" sz="1900">
                <a:solidFill>
                  <a:srgbClr val="000000"/>
                </a:solidFill>
              </a:rPr>
              <a:t>Qual a relação entre as interações nos PRs e o número de revisões realizadas?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pt-BR" sz="1900">
                <a:solidFill>
                  <a:srgbClr val="000000"/>
                </a:solidFill>
              </a:rPr>
              <a:t>Hipótese: Espera-se que PRs com mais interações tenham mais revisões.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Discuss</a:t>
            </a:r>
            <a:r>
              <a:rPr lang="pt-BR"/>
              <a:t>ão das h</a:t>
            </a:r>
            <a:r>
              <a:rPr lang="pt-BR"/>
              <a:t>ipóteses </a:t>
            </a:r>
            <a:endParaRPr/>
          </a:p>
        </p:txBody>
      </p:sp>
      <p:sp>
        <p:nvSpPr>
          <p:cNvPr id="313" name="Google Shape;313;p19"/>
          <p:cNvSpPr txBox="1"/>
          <p:nvPr>
            <p:ph idx="1" type="body"/>
          </p:nvPr>
        </p:nvSpPr>
        <p:spPr>
          <a:xfrm>
            <a:off x="1303800" y="1707350"/>
            <a:ext cx="70305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</a:rPr>
              <a:t>RQ1:</a:t>
            </a:r>
            <a:r>
              <a:rPr lang="pt-BR" sz="2000">
                <a:solidFill>
                  <a:srgbClr val="000000"/>
                </a:solidFill>
              </a:rPr>
              <a:t> É possível que PRs maiores tenham conteúdo de maior importância, levando à maior taxa de merge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coletados</a:t>
            </a:r>
            <a:endParaRPr/>
          </a:p>
        </p:txBody>
      </p:sp>
      <p:sp>
        <p:nvSpPr>
          <p:cNvPr id="319" name="Google Shape;319;p20"/>
          <p:cNvSpPr txBox="1"/>
          <p:nvPr>
            <p:ph idx="1" type="body"/>
          </p:nvPr>
        </p:nvSpPr>
        <p:spPr>
          <a:xfrm>
            <a:off x="1303800" y="19308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Tamanho: número de arquivos alterados + total de linhas adicionadas e removidas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Tempo de Análise: intervalo entre a criação do PR e a última atividade (fechamento ou merge)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Descrição: número de caracteres do corpo de descrição do PR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coletados</a:t>
            </a:r>
            <a:endParaRPr/>
          </a:p>
        </p:txBody>
      </p:sp>
      <p:sp>
        <p:nvSpPr>
          <p:cNvPr id="325" name="Google Shape;325;p21"/>
          <p:cNvSpPr txBox="1"/>
          <p:nvPr>
            <p:ph idx="1" type="body"/>
          </p:nvPr>
        </p:nvSpPr>
        <p:spPr>
          <a:xfrm>
            <a:off x="1303800" y="19769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Interações: número de participantes + número de comentários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Status do PR: binário (MERGED = 1, CLOSED = 0)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Número de Revisões: total de revisões realizadas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Resultado: Tamanho do PR (Arquivos + Linhas)</a:t>
            </a:r>
            <a:endParaRPr/>
          </a:p>
        </p:txBody>
      </p:sp>
      <p:sp>
        <p:nvSpPr>
          <p:cNvPr id="331" name="Google Shape;331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Média: 30.34</a:t>
            </a:r>
            <a:endParaRPr sz="1900"/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Mediana: 2.08</a:t>
            </a:r>
            <a:endParaRPr sz="1900"/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Desvio Padrão: 456.27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Resultado: Tempo de an</a:t>
            </a:r>
            <a:r>
              <a:rPr lang="pt-BR"/>
              <a:t>álise (horas)	</a:t>
            </a:r>
            <a:endParaRPr/>
          </a:p>
        </p:txBody>
      </p:sp>
      <p:sp>
        <p:nvSpPr>
          <p:cNvPr id="337" name="Google Shape;337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Média: 924.95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Mediana: 46.32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Desvio Padrão: 3814.34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Resultado: Descriç</a:t>
            </a:r>
            <a:r>
              <a:rPr lang="pt-BR"/>
              <a:t>ão (caracteres)</a:t>
            </a:r>
            <a:endParaRPr/>
          </a:p>
        </p:txBody>
      </p:sp>
      <p:sp>
        <p:nvSpPr>
          <p:cNvPr id="343" name="Google Shape;343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Média: 330.65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Mediana: 330.00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Desvio Padrão: 117.49</a:t>
            </a:r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Resultado: Iteraç</a:t>
            </a:r>
            <a:r>
              <a:rPr lang="pt-BR"/>
              <a:t>ões</a:t>
            </a:r>
            <a:endParaRPr/>
          </a:p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Média: 5.70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Mediana: 4.00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Desvio Padrão: 12.45</a:t>
            </a:r>
            <a:endParaRPr sz="2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Resultado: Status do PR (Merged=1, Closed=0)</a:t>
            </a:r>
            <a:endParaRPr/>
          </a:p>
        </p:txBody>
      </p:sp>
      <p:sp>
        <p:nvSpPr>
          <p:cNvPr id="355" name="Google Shape;355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M</a:t>
            </a:r>
            <a:r>
              <a:rPr lang="pt-BR" sz="2000"/>
              <a:t>édia: 0,78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Mediana: 1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Desvio padrão: 0.42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Resultado: N</a:t>
            </a:r>
            <a:r>
              <a:rPr lang="pt-BR"/>
              <a:t>úmero de revisões</a:t>
            </a:r>
            <a:endParaRPr/>
          </a:p>
        </p:txBody>
      </p:sp>
      <p:sp>
        <p:nvSpPr>
          <p:cNvPr id="361" name="Google Shape;361;p2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M</a:t>
            </a:r>
            <a:r>
              <a:rPr lang="pt-BR" sz="2000"/>
              <a:t>édia: 2.51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Mediana: 1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Desvio padrão: 4.01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553" y="0"/>
            <a:ext cx="68848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449" y="0"/>
            <a:ext cx="64231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695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695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6281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6281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450" y="152400"/>
            <a:ext cx="5271096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919" y="0"/>
            <a:ext cx="868416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8" name="Google Shape;4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19" y="0"/>
            <a:ext cx="868416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37" y="0"/>
            <a:ext cx="869132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37" y="0"/>
            <a:ext cx="869132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9" name="Google Shape;4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078" y="0"/>
            <a:ext cx="568784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